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are presenting our end-to-end Big Data Engineering project for EV infrastructure in India. We all know India wants to transition to electric vehicles, but range anxiety on national highways is a major blocker. Our project builds a distributed data engine that ingests real geospatial and vehicle data across India, analyzes the entire highway network as a massive graph, and mathematically pinpoints the exact locations where new chargers will have the highest impact.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buy an EV in Bangalore and want to drive to Mumbai or Hyderabad, you can't just rely on regular city chargers. Right now, charging data is completely fragmented across government portals and crowd-sourced apps. We needed a unified big data engine that can combine road networks, electrical grids, and vehicle traffic to find where the critical charging gaps exist.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the four tracks of our team fit together like puzzle pieces: Track 1 ingests and cleans the raw data into an HDFS Lakehouse. Track 2 builds a road graph to calculate how far any highway point is from an EV charger. Track 3 predicts future charging demand using both centralized Spark ML and privacy-preserving Federated Learning. Track 4 combines these models to select optimal sites and visualize them on an interactive GIS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1, we tackled data quality. Because charging station apps are crowd-sourced, the same charger was often listed three times with slightly different GPS coordinates. We wrote a distributed spatial deduplication algorithm in PySpark that merged nearby duplicates within 50 meters, cleaning our dataset cleanly and reducing redundant records by over 52%.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2, we converted India's highway network into an Uber H3 hexagonal grid. Instead of slow Google Maps routing, we ran Google Pregel on Apache Spark GraphX. In just 7 parallel supersteps, distance information flowed across the country, showing that 46 major highway sections are complete deserts where an EV would run out of battery.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Track 3, we asked a key research question: Can state electricity boards collaborate without exposing proprietary customer data? We built both: a Centralized Spark ML model that predicts charging demand with high accuracy (R²=0.865), and a Federated Learning model where raw data stays inside each state DISCOM while only model weights are exchanged.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what is K=25? When planning highway infrastructure, you don't build 5,000 stations on day one. You start with a pilot rollout of K priority sites. We set K=25 as our test portfolio. Our algorithm scored every highway node based on gap distance, junction traffic, power substation proximity, and nearby amenities like dhabas and petrol pumps.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most exciting result of the project. We took those 25 recommended stations, added them back into our GraphX graph, and re-ran the Pregel simulation. The result: just 25 well-placed stations cut unserved highway distance across India by almost 30%, and eliminated over 60% of all severe blackout zones! This proves our algorithm 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live Folium notebook demo, you can pan and zoom into any corridor in India—whether it's Bangalore to Hyderabad on NH-44 or the Mumbai-Delhi expressway. The blue lines are highways, green dots are existing chargers, red circles are the dangerous gap areas, and gold stars are our algorithm's recommended new charging plazas.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this project fulfills all course objectives of DSBA DA-231-O by combining distributed storage, graph computing, scalable machine learning, and optimization. We have prepared full documentation, notebook source code, and test suites on GitHub. Thank you, and we are ready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10362895" cy="2011680"/>
          </a:xfrm>
          <a:prstGeom prst="rect">
            <a:avLst/>
          </a:prstGeom>
          <a:noFill/>
        </p:spPr>
        <p:txBody>
          <a:bodyPr wrap="square">
            <a:spAutoFit/>
          </a:bodyPr>
          <a:lstStyle/>
          <a:p>
            <a:pPr>
              <a:defRPr sz="3600" b="1">
                <a:solidFill>
                  <a:srgbClr val="FFFFFF"/>
                </a:solidFill>
                <a:latin typeface="Calibri"/>
              </a:defRPr>
            </a:pPr>
            <a:r>
              <a:t>EV Charging Gap Analysis &amp; Optimal Siting on Indian Highways</a:t>
            </a:r>
          </a:p>
          <a:p>
            <a:pPr>
              <a:spcBef>
                <a:spcPts val="1200"/>
              </a:spcBef>
              <a:defRPr sz="2000">
                <a:solidFill>
                  <a:srgbClr val="D2E6FF"/>
                </a:solidFill>
                <a:latin typeface="Calibri"/>
              </a:defRPr>
            </a:pPr>
            <a:r>
              <a:t>A Distributed Big Data &amp; Spatial Graph Analytics Pipeline</a:t>
            </a:r>
          </a:p>
        </p:txBody>
      </p:sp>
      <p:sp>
        <p:nvSpPr>
          <p:cNvPr id="4" name="Rectangle 3"/>
          <p:cNvSpPr/>
          <p:nvPr/>
        </p:nvSpPr>
        <p:spPr>
          <a:xfrm>
            <a:off x="914400" y="3474720"/>
            <a:ext cx="10362895" cy="4572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362895" cy="2286000"/>
          </a:xfrm>
          <a:prstGeom prst="rect">
            <a:avLst/>
          </a:prstGeom>
          <a:noFill/>
        </p:spPr>
        <p:txBody>
          <a:bodyPr wrap="square">
            <a:spAutoFit/>
          </a:bodyPr>
          <a:lstStyle/>
          <a:p>
            <a:pPr>
              <a:defRPr sz="1600" b="1">
                <a:solidFill>
                  <a:srgbClr val="FFFFFF"/>
                </a:solidFill>
              </a:defRPr>
            </a:pPr>
            <a:r>
              <a:t>IISc DSBA DA-231-O: Data Engineering at Scale | Instructor: Prof. Yogesh Simmhan</a:t>
            </a:r>
          </a:p>
          <a:p>
            <a:pPr>
              <a:spcBef>
                <a:spcPts val="1000"/>
              </a:spcBef>
              <a:defRPr sz="1500">
                <a:solidFill>
                  <a:srgbClr val="FFCC66"/>
                </a:solidFill>
              </a:defRPr>
            </a:pPr>
            <a:r>
              <a:t>Lead: Aniket Koley (Team Lead)</a:t>
            </a:r>
          </a:p>
          <a:p>
            <a:pPr>
              <a:spcBef>
                <a:spcPts val="600"/>
              </a:spcBef>
              <a:defRPr sz="1350">
                <a:solidFill>
                  <a:srgbClr val="DCDCDC"/>
                </a:solidFill>
              </a:defRPr>
            </a:pPr>
            <a:r>
              <a:t>Collaborators: Dashrath Rajpurohit (Track 2) | Kumar Bhawenshu (Track 3) | Chennuri Manikanta (Track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02</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The Core Problem &amp; Indian Highway Reality</a:t>
            </a:r>
          </a:p>
          <a:p>
            <a:pPr>
              <a:defRPr sz="1300">
                <a:solidFill>
                  <a:srgbClr val="C8E1FF"/>
                </a:solidFill>
                <a:latin typeface="Calibri"/>
              </a:defRPr>
            </a:pPr>
            <a:r>
              <a:t>The Range Anxiety Paradox, Severe Data Fragmentation &amp; Scale</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The Range Anxiety Paradox</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Urban centers (Bengaluru, Delhi, Mumbai) possess localized EV clusters, but national highways suffer from severe charging blackouts exceeding 150-300 km between Tier-1 nodes.</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Heterogeneous Data Silos</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Infrastructure data is heavily fragmented across OpenChargeMap, OpenStreetMap, NITI Aayog registries, and state Vahan motor vehicle departments with coordinate drift.</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Distributed Big Data Scale</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Analyzing 155,859 national highway segments, 8,181 H3 spatial polygons, and millions of registration logs is computationally infeasible on single-node architectures.</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03</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End-to-End System Architecture</a:t>
            </a:r>
          </a:p>
          <a:p>
            <a:pPr>
              <a:defRPr sz="1300">
                <a:solidFill>
                  <a:srgbClr val="C8E1FF"/>
                </a:solidFill>
                <a:latin typeface="Calibri"/>
              </a:defRPr>
            </a:pPr>
            <a:r>
              <a:t>4-Track Integrated Architecture on Apache Spark Lakehouse</a:t>
            </a:r>
          </a:p>
        </p:txBody>
      </p:sp>
      <p:sp>
        <p:nvSpPr>
          <p:cNvPr id="5" name="Rounded Rectangle 4"/>
          <p:cNvSpPr/>
          <p:nvPr/>
        </p:nvSpPr>
        <p:spPr>
          <a:xfrm>
            <a:off x="731520"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Track 1: Distributed Lakehouse</a:t>
            </a:r>
          </a:p>
        </p:txBody>
      </p:sp>
      <p:sp>
        <p:nvSpPr>
          <p:cNvPr id="7" name="TextBox 6"/>
          <p:cNvSpPr txBox="1"/>
          <p:nvPr/>
        </p:nvSpPr>
        <p:spPr>
          <a:xfrm>
            <a:off x="914400" y="2606040"/>
            <a:ext cx="2076373" cy="3474720"/>
          </a:xfrm>
          <a:prstGeom prst="rect">
            <a:avLst/>
          </a:prstGeom>
          <a:noFill/>
        </p:spPr>
        <p:txBody>
          <a:bodyPr wrap="square">
            <a:spAutoFit/>
          </a:bodyPr>
          <a:lstStyle/>
          <a:p>
            <a:pPr>
              <a:defRPr sz="1350">
                <a:solidFill>
                  <a:srgbClr val="232323"/>
                </a:solidFill>
                <a:latin typeface="Calibri"/>
              </a:defRPr>
            </a:pPr>
            <a:r>
              <a:t>Bronze/Silver/Gold Medallion storage on HDFS Parquet with spatial deduplication (52.7% reduction) &amp; Snappy columnar compression.</a:t>
            </a:r>
          </a:p>
        </p:txBody>
      </p:sp>
      <p:sp>
        <p:nvSpPr>
          <p:cNvPr id="8" name="Rounded Rectangle 7"/>
          <p:cNvSpPr/>
          <p:nvPr/>
        </p:nvSpPr>
        <p:spPr>
          <a:xfrm>
            <a:off x="3493693"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3693"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Track 2: GraphX Pregel Engine</a:t>
            </a:r>
          </a:p>
        </p:txBody>
      </p:sp>
      <p:sp>
        <p:nvSpPr>
          <p:cNvPr id="10" name="TextBox 9"/>
          <p:cNvSpPr txBox="1"/>
          <p:nvPr/>
        </p:nvSpPr>
        <p:spPr>
          <a:xfrm>
            <a:off x="3676573" y="2606040"/>
            <a:ext cx="2076373" cy="3474720"/>
          </a:xfrm>
          <a:prstGeom prst="rect">
            <a:avLst/>
          </a:prstGeom>
          <a:noFill/>
        </p:spPr>
        <p:txBody>
          <a:bodyPr wrap="square">
            <a:spAutoFit/>
          </a:bodyPr>
          <a:lstStyle/>
          <a:p>
            <a:pPr>
              <a:defRPr sz="1350">
                <a:solidFill>
                  <a:srgbClr val="232323"/>
                </a:solidFill>
                <a:latin typeface="Calibri"/>
              </a:defRPr>
            </a:pPr>
            <a:r>
              <a:t>Distributed highway property graph (8,181 vertices, 155k edges) computing multi-hop travel distances in 7 parallel supersteps.</a:t>
            </a:r>
          </a:p>
        </p:txBody>
      </p:sp>
      <p:sp>
        <p:nvSpPr>
          <p:cNvPr id="11" name="Rounded Rectangle 10"/>
          <p:cNvSpPr/>
          <p:nvPr/>
        </p:nvSpPr>
        <p:spPr>
          <a:xfrm>
            <a:off x="6255867"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Track 3: Spark ML vs. FedML</a:t>
            </a:r>
          </a:p>
        </p:txBody>
      </p:sp>
      <p:sp>
        <p:nvSpPr>
          <p:cNvPr id="13" name="TextBox 12"/>
          <p:cNvSpPr txBox="1"/>
          <p:nvPr/>
        </p:nvSpPr>
        <p:spPr>
          <a:xfrm>
            <a:off x="6438747" y="2606040"/>
            <a:ext cx="2076373" cy="3474720"/>
          </a:xfrm>
          <a:prstGeom prst="rect">
            <a:avLst/>
          </a:prstGeom>
          <a:noFill/>
        </p:spPr>
        <p:txBody>
          <a:bodyPr wrap="square">
            <a:spAutoFit/>
          </a:bodyPr>
          <a:lstStyle/>
          <a:p>
            <a:pPr>
              <a:defRPr sz="1350">
                <a:solidFill>
                  <a:srgbClr val="232323"/>
                </a:solidFill>
                <a:latin typeface="Calibri"/>
              </a:defRPr>
            </a:pPr>
            <a:r>
              <a:t>Centralized Spark ML Random Forest (R² = 0.8653) benchmarked against Privacy-Preserving Federated Learning (FedAvg, R² = 0.6922).</a:t>
            </a:r>
          </a:p>
        </p:txBody>
      </p:sp>
      <p:sp>
        <p:nvSpPr>
          <p:cNvPr id="14" name="Rounded Rectangle 13"/>
          <p:cNvSpPr/>
          <p:nvPr/>
        </p:nvSpPr>
        <p:spPr>
          <a:xfrm>
            <a:off x="9018041"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18041"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Track 4: Siting &amp; Dashboard</a:t>
            </a:r>
          </a:p>
        </p:txBody>
      </p:sp>
      <p:sp>
        <p:nvSpPr>
          <p:cNvPr id="16" name="TextBox 15"/>
          <p:cNvSpPr txBox="1"/>
          <p:nvPr/>
        </p:nvSpPr>
        <p:spPr>
          <a:xfrm>
            <a:off x="9200921" y="2606040"/>
            <a:ext cx="2076373" cy="3474720"/>
          </a:xfrm>
          <a:prstGeom prst="rect">
            <a:avLst/>
          </a:prstGeom>
          <a:noFill/>
        </p:spPr>
        <p:txBody>
          <a:bodyPr wrap="square">
            <a:spAutoFit/>
          </a:bodyPr>
          <a:lstStyle/>
          <a:p>
            <a:pPr>
              <a:defRPr sz="1350">
                <a:solidFill>
                  <a:srgbClr val="232323"/>
                </a:solidFill>
                <a:latin typeface="Calibri"/>
              </a:defRPr>
            </a:pPr>
            <a:r>
              <a:t>Multi-criteria candidate plaza scoring, K=25 pilot deployment validation, and live interactive Folium geospatial dashboard.</a:t>
            </a:r>
          </a:p>
        </p:txBody>
      </p:sp>
      <p:sp>
        <p:nvSpPr>
          <p:cNvPr id="17" name="TextBox 16"/>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04</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Track 1: Ingestion, Lakehouse &amp; Deduplication</a:t>
            </a:r>
          </a:p>
          <a:p>
            <a:pPr>
              <a:defRPr sz="1300">
                <a:solidFill>
                  <a:srgbClr val="C8E1FF"/>
                </a:solidFill>
                <a:latin typeface="Calibri"/>
              </a:defRPr>
            </a:pPr>
            <a:r>
              <a:t>Fault-Tolerant Geospatial ETL with High Throughput</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3-Tier Medallion Storage</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Bronze preserves raw immutable JSON/CSV payloads for RDD lineage recovery; Silver discretizes by Uber H3 index; Gold aggregates analytical feature tables.</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50m Spatial Deduplication</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Custom RDD spatial grid bucket join collapsed 1,335 crowd-sourced records into 632 unique physical charging stations (52.7% duplicate elimination).</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Ingestion Throughput</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Processed 781,836 records/sec (0.233 GB/sec) with snappy columnar compression, achieving a 68% disk memory reduction over raw CSV.</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05</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Track 2: Highway Graph Modeling &amp; Pregel</a:t>
            </a:r>
          </a:p>
          <a:p>
            <a:pPr>
              <a:defRPr sz="1300">
                <a:solidFill>
                  <a:srgbClr val="C8E1FF"/>
                </a:solidFill>
                <a:latin typeface="Calibri"/>
              </a:defRPr>
            </a:pPr>
            <a:r>
              <a:t>Distributed Property Graph Analytics on Apache Spark GraphX</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Graph Topology</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8,181 Uber H3 Hexagon Centroids (Resolution 7) as traversal vertices; 155,859 directed national highway road segments as weighted edges.</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Pregel Supersteps</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Shortest-path distance to EV infrastructure converged in exactly 7 synchronous supersteps with inactive vertex pruning and memory caching.</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Critical Gap Discovery</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Identified 46 severe charging blackout clusters nationwide where the nearest existing fast-charger is over 150 km away.</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06</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Track 3: Centralized Spark ML vs. FedML</a:t>
            </a:r>
          </a:p>
          <a:p>
            <a:pPr>
              <a:defRPr sz="1300">
                <a:solidFill>
                  <a:srgbClr val="C8E1FF"/>
                </a:solidFill>
                <a:latin typeface="Calibri"/>
              </a:defRPr>
            </a:pPr>
            <a:r>
              <a:t>Predictive Accuracy vs. Cross-DISCOM Data Privacy</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Centralized Spark ML</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Distributed Random Forest (100 trees, depth 8) achieved R² = 0.8653, RMSE = 0.1824. Requires central aggregation of state telemetry logs.</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Decentralized FedML (FedAvg)</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Federated Learning across 5 state DISCOM clients achieved R² = 0.6922. Zero raw session telemetry leaves local DISCOM boundaries.</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Engineering Trade-Off</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Centralized models provide global joint distributions for national master planning; Federated Learning solves interstate commercial data privacy.</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07</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Track 4: Siting Optimization &amp; The K=25 Concept</a:t>
            </a:r>
          </a:p>
          <a:p>
            <a:pPr>
              <a:defRPr sz="1300">
                <a:solidFill>
                  <a:srgbClr val="C8E1FF"/>
                </a:solidFill>
                <a:latin typeface="Calibri"/>
              </a:defRPr>
            </a:pPr>
            <a:r>
              <a:t>Multi-Factor Scoring &amp; Real OSM Ground-Truthing</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Composite Scoring Formula</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Score = 0.40 * UnservedDist + 0.25 * TrafficDensity + 0.15 * PageRank + 0.10 * Substations + 0.10 * Amenities.</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What is K=25?</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A prioritized pilot test portfolio selecting the top 25 high-leverage candidate locations across major corridors (NH-44, NH-48, NH-16, NH-27).</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Ground Amenity Validation</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Every top hexagon is cross-referenced with real OpenStreetMap POIs: co-located at fuel bunks, motels, restaurants, and 66kV power substations.</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08</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Quantitative Impact: Before vs. After Simulation</a:t>
            </a:r>
          </a:p>
          <a:p>
            <a:pPr>
              <a:defRPr sz="1300">
                <a:solidFill>
                  <a:srgbClr val="C8E1FF"/>
                </a:solidFill>
                <a:latin typeface="Calibri"/>
              </a:defRPr>
            </a:pPr>
            <a:r>
              <a:t>Counterfactual Mathematical Proof of the Siting Heuristic</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Mean Unserved Distance</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National average distance from any highway segment to an EV charger dropped from 84.42 km down to 59.88 km (29.07% nationwide improvement).</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Critical Gap Resolution</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Severe charging blackout clusters (&gt;150 km) dropped from 46 down to 18—resolving 60.87% of all critical gaps with just 25 plazas!</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IEA 15:1 Benchmark Calibration</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Demand deficit calibrated against International Energy Agency standards (15 EVs per charger) for realistic 2026-2030 highway capacity.</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09</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Live Interactive Dashboard &amp; Corridor Analysis</a:t>
            </a:r>
          </a:p>
          <a:p>
            <a:pPr>
              <a:defRPr sz="1300">
                <a:solidFill>
                  <a:srgbClr val="C8E1FF"/>
                </a:solidFill>
                <a:latin typeface="Calibri"/>
              </a:defRPr>
            </a:pPr>
            <a:r>
              <a:t>Full-Featured Geospatial Visualizer with Dynamic Legend</a:t>
            </a:r>
          </a:p>
        </p:txBody>
      </p:sp>
      <p:sp>
        <p:nvSpPr>
          <p:cNvPr id="5" name="Rounded Rectangle 4"/>
          <p:cNvSpPr/>
          <p:nvPr/>
        </p:nvSpPr>
        <p:spPr>
          <a:xfrm>
            <a:off x="731520"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Esri WorldStreetMap Tiles</a:t>
            </a:r>
          </a:p>
        </p:txBody>
      </p:sp>
      <p:sp>
        <p:nvSpPr>
          <p:cNvPr id="7" name="TextBox 6"/>
          <p:cNvSpPr txBox="1"/>
          <p:nvPr/>
        </p:nvSpPr>
        <p:spPr>
          <a:xfrm>
            <a:off x="914400" y="2606040"/>
            <a:ext cx="2997098" cy="3474720"/>
          </a:xfrm>
          <a:prstGeom prst="rect">
            <a:avLst/>
          </a:prstGeom>
          <a:noFill/>
        </p:spPr>
        <p:txBody>
          <a:bodyPr wrap="square">
            <a:spAutoFit/>
          </a:bodyPr>
          <a:lstStyle/>
          <a:p>
            <a:pPr>
              <a:defRPr sz="1350">
                <a:solidFill>
                  <a:srgbClr val="232323"/>
                </a:solidFill>
                <a:latin typeface="Calibri"/>
              </a:defRPr>
            </a:pPr>
            <a:r>
              <a:t>Crisp vector basemap with zero API key dependencies or watermark overlays, fully responsive for nationwide panning and zooming.</a:t>
            </a:r>
          </a:p>
        </p:txBody>
      </p:sp>
      <p:sp>
        <p:nvSpPr>
          <p:cNvPr id="8" name="Rounded Rectangle 7"/>
          <p:cNvSpPr/>
          <p:nvPr/>
        </p:nvSpPr>
        <p:spPr>
          <a:xfrm>
            <a:off x="4414418"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14418"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Layer Visual Encoding</a:t>
            </a:r>
          </a:p>
        </p:txBody>
      </p:sp>
      <p:sp>
        <p:nvSpPr>
          <p:cNvPr id="10" name="TextBox 9"/>
          <p:cNvSpPr txBox="1"/>
          <p:nvPr/>
        </p:nvSpPr>
        <p:spPr>
          <a:xfrm>
            <a:off x="4597298" y="2606040"/>
            <a:ext cx="2997098" cy="3474720"/>
          </a:xfrm>
          <a:prstGeom prst="rect">
            <a:avLst/>
          </a:prstGeom>
          <a:noFill/>
        </p:spPr>
        <p:txBody>
          <a:bodyPr wrap="square">
            <a:spAutoFit/>
          </a:bodyPr>
          <a:lstStyle/>
          <a:p>
            <a:pPr>
              <a:defRPr sz="1350">
                <a:solidFill>
                  <a:srgbClr val="232323"/>
                </a:solidFill>
                <a:latin typeface="Calibri"/>
              </a:defRPr>
            </a:pPr>
            <a:r>
              <a:t>Blue Lines: 155k Highway Segments | Green Circles: 632 Verified Stations | Red Rings: 46 Blackout Deserts | Gold Stars: K=25 Plazas.</a:t>
            </a:r>
          </a:p>
        </p:txBody>
      </p:sp>
      <p:sp>
        <p:nvSpPr>
          <p:cNvPr id="11" name="Rounded Rectangle 10"/>
          <p:cNvSpPr/>
          <p:nvPr/>
        </p:nvSpPr>
        <p:spPr>
          <a:xfrm>
            <a:off x="8097316" y="1600200"/>
            <a:ext cx="3362858"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7316" y="1600200"/>
            <a:ext cx="3362858"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Real-Time Corridor Drilldown</a:t>
            </a:r>
          </a:p>
        </p:txBody>
      </p:sp>
      <p:sp>
        <p:nvSpPr>
          <p:cNvPr id="13" name="TextBox 12"/>
          <p:cNvSpPr txBox="1"/>
          <p:nvPr/>
        </p:nvSpPr>
        <p:spPr>
          <a:xfrm>
            <a:off x="8280196" y="2606040"/>
            <a:ext cx="2997098" cy="3474720"/>
          </a:xfrm>
          <a:prstGeom prst="rect">
            <a:avLst/>
          </a:prstGeom>
          <a:noFill/>
        </p:spPr>
        <p:txBody>
          <a:bodyPr wrap="square">
            <a:spAutoFit/>
          </a:bodyPr>
          <a:lstStyle/>
          <a:p>
            <a:pPr>
              <a:defRPr sz="1350">
                <a:solidFill>
                  <a:srgbClr val="232323"/>
                </a:solidFill>
                <a:latin typeface="Calibri"/>
              </a:defRPr>
            </a:pPr>
            <a:r>
              <a:t>Interactive inspection of key freight corridors: NH-44 (North-South), NH-48 (Delhi-Chennai), NH-16 (East Coast), and NH-27 (East-West).</a:t>
            </a:r>
          </a:p>
        </p:txBody>
      </p:sp>
      <p:sp>
        <p:nvSpPr>
          <p:cNvPr id="14" name="TextBox 13"/>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887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28600"/>
            <a:ext cx="731520" cy="731520"/>
          </a:xfrm>
          <a:prstGeom prst="round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FFFFFF"/>
                </a:solidFill>
              </a:defRPr>
            </a:pPr>
            <a:r>
              <a:t>10</a:t>
            </a:r>
          </a:p>
        </p:txBody>
      </p:sp>
      <p:sp>
        <p:nvSpPr>
          <p:cNvPr id="4" name="TextBox 3"/>
          <p:cNvSpPr txBox="1"/>
          <p:nvPr/>
        </p:nvSpPr>
        <p:spPr>
          <a:xfrm>
            <a:off x="1645920" y="164592"/>
            <a:ext cx="9601200" cy="822960"/>
          </a:xfrm>
          <a:prstGeom prst="rect">
            <a:avLst/>
          </a:prstGeom>
          <a:noFill/>
        </p:spPr>
        <p:txBody>
          <a:bodyPr wrap="square">
            <a:spAutoFit/>
          </a:bodyPr>
          <a:lstStyle/>
          <a:p>
            <a:pPr>
              <a:defRPr sz="2400" b="1">
                <a:solidFill>
                  <a:srgbClr val="FFFFFF"/>
                </a:solidFill>
                <a:latin typeface="Calibri"/>
              </a:defRPr>
            </a:pPr>
            <a:r>
              <a:t>Conclusion &amp; Academic Contributions</a:t>
            </a:r>
          </a:p>
          <a:p>
            <a:pPr>
              <a:defRPr sz="1300">
                <a:solidFill>
                  <a:srgbClr val="C8E1FF"/>
                </a:solidFill>
                <a:latin typeface="Calibri"/>
              </a:defRPr>
            </a:pPr>
            <a:r>
              <a:t>Fulfilling DSBA DA-231-O Big Data Course Objectives</a:t>
            </a:r>
          </a:p>
        </p:txBody>
      </p:sp>
      <p:sp>
        <p:nvSpPr>
          <p:cNvPr id="5" name="Rounded Rectangle 4"/>
          <p:cNvSpPr/>
          <p:nvPr/>
        </p:nvSpPr>
        <p:spPr>
          <a:xfrm>
            <a:off x="731520"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Scalable Lakehouse</a:t>
            </a:r>
          </a:p>
        </p:txBody>
      </p:sp>
      <p:sp>
        <p:nvSpPr>
          <p:cNvPr id="7" name="TextBox 6"/>
          <p:cNvSpPr txBox="1"/>
          <p:nvPr/>
        </p:nvSpPr>
        <p:spPr>
          <a:xfrm>
            <a:off x="914400" y="2606040"/>
            <a:ext cx="2076373" cy="3474720"/>
          </a:xfrm>
          <a:prstGeom prst="rect">
            <a:avLst/>
          </a:prstGeom>
          <a:noFill/>
        </p:spPr>
        <p:txBody>
          <a:bodyPr wrap="square">
            <a:spAutoFit/>
          </a:bodyPr>
          <a:lstStyle/>
          <a:p>
            <a:pPr>
              <a:defRPr sz="1350">
                <a:solidFill>
                  <a:srgbClr val="232323"/>
                </a:solidFill>
                <a:latin typeface="Calibri"/>
              </a:defRPr>
            </a:pPr>
            <a:r>
              <a:t>Production-grade PySpark Lakehouse handling millions of geospatial and vehicle records on HDFS Parquet with fault-tolerant lineage.</a:t>
            </a:r>
          </a:p>
        </p:txBody>
      </p:sp>
      <p:sp>
        <p:nvSpPr>
          <p:cNvPr id="8" name="Rounded Rectangle 7"/>
          <p:cNvSpPr/>
          <p:nvPr/>
        </p:nvSpPr>
        <p:spPr>
          <a:xfrm>
            <a:off x="3493693"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93693"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Distributed Graph Analytics</a:t>
            </a:r>
          </a:p>
        </p:txBody>
      </p:sp>
      <p:sp>
        <p:nvSpPr>
          <p:cNvPr id="10" name="TextBox 9"/>
          <p:cNvSpPr txBox="1"/>
          <p:nvPr/>
        </p:nvSpPr>
        <p:spPr>
          <a:xfrm>
            <a:off x="3676573" y="2606040"/>
            <a:ext cx="2076373" cy="3474720"/>
          </a:xfrm>
          <a:prstGeom prst="rect">
            <a:avLst/>
          </a:prstGeom>
          <a:noFill/>
        </p:spPr>
        <p:txBody>
          <a:bodyPr wrap="square">
            <a:spAutoFit/>
          </a:bodyPr>
          <a:lstStyle/>
          <a:p>
            <a:pPr>
              <a:defRPr sz="1350">
                <a:solidFill>
                  <a:srgbClr val="232323"/>
                </a:solidFill>
                <a:latin typeface="Calibri"/>
              </a:defRPr>
            </a:pPr>
            <a:r>
              <a:t>Iterative GraphX Pregel propagation resolving nationwide accessibility across 155,859 road segments in 7 supersteps.</a:t>
            </a:r>
          </a:p>
        </p:txBody>
      </p:sp>
      <p:sp>
        <p:nvSpPr>
          <p:cNvPr id="11" name="Rounded Rectangle 10"/>
          <p:cNvSpPr/>
          <p:nvPr/>
        </p:nvSpPr>
        <p:spPr>
          <a:xfrm>
            <a:off x="6255867"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ML vs. Federated Learning</a:t>
            </a:r>
          </a:p>
        </p:txBody>
      </p:sp>
      <p:sp>
        <p:nvSpPr>
          <p:cNvPr id="13" name="TextBox 12"/>
          <p:cNvSpPr txBox="1"/>
          <p:nvPr/>
        </p:nvSpPr>
        <p:spPr>
          <a:xfrm>
            <a:off x="6438747" y="2606040"/>
            <a:ext cx="2076373" cy="3474720"/>
          </a:xfrm>
          <a:prstGeom prst="rect">
            <a:avLst/>
          </a:prstGeom>
          <a:noFill/>
        </p:spPr>
        <p:txBody>
          <a:bodyPr wrap="square">
            <a:spAutoFit/>
          </a:bodyPr>
          <a:lstStyle/>
          <a:p>
            <a:pPr>
              <a:defRPr sz="1350">
                <a:solidFill>
                  <a:srgbClr val="232323"/>
                </a:solidFill>
                <a:latin typeface="Calibri"/>
              </a:defRPr>
            </a:pPr>
            <a:r>
              <a:t>First comparative benchmark of Centralized Spark ML vs. FedML on Indian EV highway telemetry with privacy trade-offs.</a:t>
            </a:r>
          </a:p>
        </p:txBody>
      </p:sp>
      <p:sp>
        <p:nvSpPr>
          <p:cNvPr id="14" name="Rounded Rectangle 13"/>
          <p:cNvSpPr/>
          <p:nvPr/>
        </p:nvSpPr>
        <p:spPr>
          <a:xfrm>
            <a:off x="9018041" y="1600200"/>
            <a:ext cx="2442133" cy="4663440"/>
          </a:xfrm>
          <a:prstGeom prst="roundRect">
            <a:avLst/>
          </a:prstGeom>
          <a:solidFill>
            <a:srgbClr val="F5F8FC"/>
          </a:solidFill>
          <a:ln w="15240">
            <a:solidFill>
              <a:srgbClr val="D2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018041" y="1600200"/>
            <a:ext cx="2442133" cy="822960"/>
          </a:xfrm>
          <a:prstGeom prst="roundRect">
            <a:avLst/>
          </a:prstGeom>
          <a:solidFill>
            <a:srgbClr val="00669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Counterfactual Validation</a:t>
            </a:r>
          </a:p>
        </p:txBody>
      </p:sp>
      <p:sp>
        <p:nvSpPr>
          <p:cNvPr id="16" name="TextBox 15"/>
          <p:cNvSpPr txBox="1"/>
          <p:nvPr/>
        </p:nvSpPr>
        <p:spPr>
          <a:xfrm>
            <a:off x="9200921" y="2606040"/>
            <a:ext cx="2076373" cy="3474720"/>
          </a:xfrm>
          <a:prstGeom prst="rect">
            <a:avLst/>
          </a:prstGeom>
          <a:noFill/>
        </p:spPr>
        <p:txBody>
          <a:bodyPr wrap="square">
            <a:spAutoFit/>
          </a:bodyPr>
          <a:lstStyle/>
          <a:p>
            <a:pPr>
              <a:defRPr sz="1350">
                <a:solidFill>
                  <a:srgbClr val="232323"/>
                </a:solidFill>
                <a:latin typeface="Calibri"/>
              </a:defRPr>
            </a:pPr>
            <a:r>
              <a:t>Mathematically demonstrated a 29.1% accessibility boost and 60.9% gap reduction using ground-validated K=25 candidate sites.</a:t>
            </a:r>
          </a:p>
        </p:txBody>
      </p:sp>
      <p:sp>
        <p:nvSpPr>
          <p:cNvPr id="17" name="TextBox 16"/>
          <p:cNvSpPr txBox="1"/>
          <p:nvPr/>
        </p:nvSpPr>
        <p:spPr>
          <a:xfrm>
            <a:off x="731520" y="6446520"/>
            <a:ext cx="10728655" cy="365760"/>
          </a:xfrm>
          <a:prstGeom prst="rect">
            <a:avLst/>
          </a:prstGeom>
          <a:noFill/>
        </p:spPr>
        <p:txBody>
          <a:bodyPr wrap="none">
            <a:spAutoFit/>
          </a:bodyPr>
          <a:lstStyle/>
          <a:p>
            <a:pPr>
              <a:defRPr sz="1000">
                <a:solidFill>
                  <a:srgbClr val="646464"/>
                </a:solidFill>
              </a:defRPr>
            </a:pPr>
            <a:r>
              <a:t>IISc DSBA DA-231-O | Data Engineering at Scale | Project Lead: Aniket Koley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